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71" r:id="rId7"/>
    <p:sldId id="268" r:id="rId8"/>
    <p:sldId id="269" r:id="rId9"/>
    <p:sldId id="270" r:id="rId10"/>
  </p:sldIdLst>
  <p:sldSz cx="9144000" cy="5143500" type="screen16x9"/>
  <p:notesSz cx="6858000" cy="9144000"/>
  <p:embeddedFontLst>
    <p:embeddedFont>
      <p:font typeface="Libre Baskerville" panose="02000000000000000000" pitchFamily="2" charset="0"/>
      <p:regular r:id="rId12"/>
      <p:bold r:id="rId13"/>
      <p:italic r:id="rId14"/>
      <p:boldItalic r:id="rId15"/>
    </p:embeddedFont>
    <p:embeddedFont>
      <p:font typeface="Libre Franklin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443ED8-F957-477B-908B-B4C59793D449}">
  <a:tblStyle styleId="{B5443ED8-F957-477B-908B-B4C59793D44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2" name="Google Shape;1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8" name="Google Shape;15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4" name="Google Shape;16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blipFill rotWithShape="1">
          <a:blip r:embed="rId2">
            <a:alphaModFix/>
          </a:blip>
          <a:tile tx="0" ty="0" sx="55000" sy="55000" flip="none" algn="tl"/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65313" y="52316"/>
            <a:ext cx="9013500" cy="5019300"/>
          </a:xfrm>
          <a:prstGeom prst="roundRect">
            <a:avLst>
              <a:gd name="adj" fmla="val 4929"/>
            </a:avLst>
          </a:prstGeom>
          <a:blipFill rotWithShape="1">
            <a:blip r:embed="rId2">
              <a:alphaModFix/>
            </a:blip>
            <a:tile tx="0" ty="0" sx="55000" sy="55000" flip="none" algn="tl"/>
          </a:blip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295400" y="2400300"/>
            <a:ext cx="64008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62931" y="1086977"/>
            <a:ext cx="9021600" cy="114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62931" y="1047540"/>
            <a:ext cx="9021600" cy="9030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62931" y="2232487"/>
            <a:ext cx="9021600" cy="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457200" y="1129447"/>
            <a:ext cx="82296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" name="Google Shape;18;p2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0430" y="214296"/>
            <a:ext cx="1540273" cy="696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" name="Google Shape;22;p3" descr="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492" y="160717"/>
            <a:ext cx="1421805" cy="643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blipFill rotWithShape="1">
          <a:blip r:embed="rId2">
            <a:alphaModFix/>
          </a:blip>
          <a:tile tx="0" ty="0" sx="55000" sy="55000" flip="none" algn="tl"/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5313" y="52316"/>
            <a:ext cx="9013500" cy="5019300"/>
          </a:xfrm>
          <a:prstGeom prst="roundRect">
            <a:avLst>
              <a:gd name="adj" fmla="val 4929"/>
            </a:avLst>
          </a:prstGeom>
          <a:blipFill rotWithShape="1">
            <a:blip r:embed="rId2">
              <a:alphaModFix/>
            </a:blip>
            <a:tile tx="0" ty="0" sx="55000" sy="55000" flip="none" algn="tl"/>
          </a:blip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2313" y="7143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2313" y="1910954"/>
            <a:ext cx="77724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/>
          <p:nvPr/>
        </p:nvSpPr>
        <p:spPr>
          <a:xfrm rot="10800000" flipH="1">
            <a:off x="69412" y="1782503"/>
            <a:ext cx="9013500" cy="6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9146" y="1756106"/>
            <a:ext cx="9013800" cy="3420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8306" y="1851660"/>
            <a:ext cx="9014700" cy="3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31" name="Google Shape;31;p4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1868" y="160717"/>
            <a:ext cx="1421805" cy="643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914400" y="1085850"/>
            <a:ext cx="37491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2"/>
          </p:nvPr>
        </p:nvSpPr>
        <p:spPr>
          <a:xfrm>
            <a:off x="4933950" y="1085850"/>
            <a:ext cx="37491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6" name="Google Shape;36;p5" descr="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2844" y="214296"/>
            <a:ext cx="1421805" cy="643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914400" y="20478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914400" y="1085850"/>
            <a:ext cx="3733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sz="2400" b="1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953000" y="1085850"/>
            <a:ext cx="3733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sz="2400" b="1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3"/>
          </p:nvPr>
        </p:nvSpPr>
        <p:spPr>
          <a:xfrm>
            <a:off x="914400" y="1685925"/>
            <a:ext cx="373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4"/>
          </p:nvPr>
        </p:nvSpPr>
        <p:spPr>
          <a:xfrm>
            <a:off x="4953000" y="1685925"/>
            <a:ext cx="373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8" name="Google Shape;48;p9"/>
          <p:cNvSpPr/>
          <p:nvPr/>
        </p:nvSpPr>
        <p:spPr>
          <a:xfrm>
            <a:off x="64008" y="52316"/>
            <a:ext cx="9013500" cy="5020200"/>
          </a:xfrm>
          <a:prstGeom prst="roundRect">
            <a:avLst>
              <a:gd name="adj" fmla="val 4929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914400" y="20478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sz="40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914400" y="1200150"/>
            <a:ext cx="1905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2971800" y="1200150"/>
            <a:ext cx="5715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914400" y="3675413"/>
            <a:ext cx="73152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914400" y="4084369"/>
            <a:ext cx="73152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marL="914400" lvl="1" indent="-29336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8257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/>
          <p:nvPr/>
        </p:nvSpPr>
        <p:spPr>
          <a:xfrm rot="10800000" flipH="1">
            <a:off x="68307" y="3512546"/>
            <a:ext cx="9006900" cy="6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6" name="Google Shape;56;p10"/>
          <p:cNvSpPr/>
          <p:nvPr/>
        </p:nvSpPr>
        <p:spPr>
          <a:xfrm>
            <a:off x="68508" y="3487856"/>
            <a:ext cx="9006600" cy="3420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7" name="Google Shape;57;p10"/>
          <p:cNvSpPr/>
          <p:nvPr/>
        </p:nvSpPr>
        <p:spPr>
          <a:xfrm>
            <a:off x="68510" y="3579918"/>
            <a:ext cx="9006600" cy="3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8" name="Google Shape;58;p10"/>
          <p:cNvSpPr>
            <a:spLocks noGrp="1"/>
          </p:cNvSpPr>
          <p:nvPr>
            <p:ph type="pic" idx="2"/>
          </p:nvPr>
        </p:nvSpPr>
        <p:spPr>
          <a:xfrm>
            <a:off x="68308" y="50006"/>
            <a:ext cx="9001800" cy="3436200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1"/>
          </p:nvPr>
        </p:nvSpPr>
        <p:spPr>
          <a:xfrm rot="5400000">
            <a:off x="3086100" y="-1085850"/>
            <a:ext cx="34290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 rot="5400000">
            <a:off x="5440830" y="1394431"/>
            <a:ext cx="4388700" cy="20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 rot="5400000">
            <a:off x="1501350" y="-380970"/>
            <a:ext cx="43887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chemeClr val="lt2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2071670" y="267875"/>
            <a:ext cx="67581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1"/>
          </p:nvPr>
        </p:nvSpPr>
        <p:spPr>
          <a:xfrm>
            <a:off x="500034" y="1085850"/>
            <a:ext cx="8186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8" name="Google Shape;68;p13" descr="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492" y="160717"/>
            <a:ext cx="1421805" cy="643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64008" y="52316"/>
            <a:ext cx="9013500" cy="5020200"/>
          </a:xfrm>
          <a:prstGeom prst="roundRect">
            <a:avLst>
              <a:gd name="adj" fmla="val 4929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935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ctrTitle"/>
          </p:nvPr>
        </p:nvSpPr>
        <p:spPr>
          <a:xfrm>
            <a:off x="457200" y="1129447"/>
            <a:ext cx="82296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GB" dirty="0"/>
              <a:t>MAJOR PROJECT</a:t>
            </a:r>
            <a:endParaRPr dirty="0"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"/>
          </p:nvPr>
        </p:nvSpPr>
        <p:spPr>
          <a:xfrm>
            <a:off x="197900" y="2400300"/>
            <a:ext cx="8797200" cy="2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SzPct val="132315"/>
            </a:pPr>
            <a:r>
              <a:rPr lang="en-US" sz="2400" dirty="0">
                <a:solidFill>
                  <a:schemeClr val="tx1"/>
                </a:solidFill>
              </a:rPr>
              <a:t>Verification of LLM Judges through Adversarial Falsification for Hallucination Correction.</a:t>
            </a:r>
          </a:p>
          <a:p>
            <a:pPr marL="0" lvl="0" indent="0">
              <a:buSzPct val="132315"/>
            </a:pPr>
            <a:endParaRPr sz="2400" dirty="0">
              <a:solidFill>
                <a:schemeClr val="tx1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159509"/>
              <a:buNone/>
            </a:pPr>
            <a:r>
              <a:rPr lang="en-GB" sz="1400" b="1" dirty="0"/>
              <a:t>Presented by</a:t>
            </a:r>
            <a:r>
              <a:rPr lang="en-GB" sz="1400" dirty="0"/>
              <a:t>- AYUSH SHARMA(05611503122)</a:t>
            </a:r>
            <a:endParaRPr sz="1400" dirty="0"/>
          </a:p>
          <a:p>
            <a:pPr marL="0" lvl="0" indent="0" algn="ctr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Arial"/>
              <a:buNone/>
            </a:pP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3400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3200" dirty="0"/>
              <a:t>Introduction</a:t>
            </a:r>
            <a:endParaRPr sz="3200" dirty="0"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154425" y="1085850"/>
            <a:ext cx="8829900" cy="3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311150">
              <a:spcBef>
                <a:spcPts val="1200"/>
              </a:spcBef>
              <a:buClr>
                <a:schemeClr val="tx1"/>
              </a:buClr>
              <a:buSzPts val="1300"/>
              <a:buFont typeface="Arial"/>
              <a:buAutoNum type="arabicPeriod"/>
            </a:pPr>
            <a:r>
              <a:rPr lang="en-US" sz="1200" dirty="0">
                <a:latin typeface="+mj-lt"/>
              </a:rPr>
              <a:t>Hallucinations in Large Language Models (LLMs) are not just random errors; they are plausible but factually incorrect statements.</a:t>
            </a:r>
            <a:endParaRPr sz="1200" dirty="0">
              <a:latin typeface="+mj-lt"/>
              <a:ea typeface="Arial"/>
              <a:cs typeface="Arial"/>
              <a:sym typeface="Arial"/>
            </a:endParaRPr>
          </a:p>
          <a:p>
            <a:pPr lvl="0" indent="-311150">
              <a:spcBef>
                <a:spcPts val="0"/>
              </a:spcBef>
              <a:buClr>
                <a:schemeClr val="tx1"/>
              </a:buClr>
              <a:buSzPts val="1300"/>
              <a:buFont typeface="Arial"/>
              <a:buAutoNum type="arabicPeriod"/>
            </a:pPr>
            <a:r>
              <a:rPr lang="en-US" sz="1200" dirty="0">
                <a:latin typeface="+mj-lt"/>
              </a:rPr>
              <a:t>Traditional verification systems often share the LLM's bias. Standard Retrieval-Augmented Generation (RAG) utilizes a "Supportive Retrieval" philosophy, effectively asking the question, "Is X true?".</a:t>
            </a:r>
          </a:p>
          <a:p>
            <a:pPr lvl="0" indent="-311150">
              <a:spcBef>
                <a:spcPts val="0"/>
              </a:spcBef>
              <a:buClr>
                <a:schemeClr val="tx1"/>
              </a:buClr>
              <a:buSzPts val="1300"/>
              <a:buFont typeface="Arial"/>
              <a:buAutoNum type="arabicPeriod"/>
            </a:pPr>
            <a:r>
              <a:rPr lang="en-US" sz="1200" dirty="0">
                <a:latin typeface="+mj-lt"/>
              </a:rPr>
              <a:t>This supportive approach makes systems inherently vulnerable to confirmation bias. If the web contains noise that resembles the claim, the system will falsely validate the hallucination.</a:t>
            </a:r>
          </a:p>
          <a:p>
            <a:pPr lvl="0" indent="-311150">
              <a:spcBef>
                <a:spcPts val="0"/>
              </a:spcBef>
              <a:buClr>
                <a:schemeClr val="tx1"/>
              </a:buClr>
              <a:buSzPts val="1300"/>
              <a:buFont typeface="Arial"/>
              <a:buAutoNum type="arabicPeriod"/>
            </a:pPr>
            <a:r>
              <a:rPr lang="en-US" sz="1200" dirty="0">
                <a:latin typeface="+mj-lt"/>
              </a:rPr>
              <a:t>This research argues that RAG fails because the retrieval objective itself is wrong, not because the retrieval mechanism is weak.</a:t>
            </a:r>
          </a:p>
          <a:p>
            <a:pPr lvl="0" indent="-311150">
              <a:spcBef>
                <a:spcPts val="0"/>
              </a:spcBef>
              <a:buClr>
                <a:schemeClr val="tx1"/>
              </a:buClr>
              <a:buSzPts val="1300"/>
              <a:buFont typeface="Arial"/>
              <a:buAutoNum type="arabicPeriod"/>
            </a:pPr>
            <a:r>
              <a:rPr lang="en-US" sz="1200" b="1" dirty="0">
                <a:latin typeface="+mj-lt"/>
              </a:rPr>
              <a:t>The "Black Box Judge" Problem:</a:t>
            </a:r>
            <a:r>
              <a:rPr lang="en-US" sz="1200" dirty="0">
                <a:latin typeface="+mj-lt"/>
              </a:rPr>
              <a:t> Current state-of-the-art methods rely on an "LLM Judge" to classify claims as True or False, but these judges are proven to be unreliable. They operate as opaque models that can mis-reason, hallucinate contradictions, or fabricate justifications without any external accountability.</a:t>
            </a:r>
          </a:p>
          <a:p>
            <a:pPr lvl="0" indent="-311150">
              <a:spcBef>
                <a:spcPts val="0"/>
              </a:spcBef>
              <a:buClr>
                <a:schemeClr val="tx1"/>
              </a:buClr>
              <a:buSzPts val="1300"/>
              <a:buFont typeface="Arial"/>
              <a:buAutoNum type="arabicPeriod"/>
            </a:pPr>
            <a:r>
              <a:rPr lang="en-US" sz="1200" dirty="0">
                <a:latin typeface="+mj-lt"/>
              </a:rPr>
              <a:t>The proposed solution is built on the </a:t>
            </a:r>
            <a:r>
              <a:rPr lang="en-US" sz="1200" b="1" dirty="0">
                <a:latin typeface="+mj-lt"/>
              </a:rPr>
              <a:t>Philosophy of Falsification</a:t>
            </a:r>
            <a:r>
              <a:rPr lang="en-US" sz="1200" dirty="0">
                <a:latin typeface="+mj-lt"/>
              </a:rPr>
              <a:t>: a system must actively attempt to falsify a claim, rather than try to support it.</a:t>
            </a:r>
            <a:endParaRPr sz="12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84513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 dirty="0"/>
              <a:t>Objective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596817" y="984122"/>
            <a:ext cx="8407566" cy="3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12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1200" dirty="0">
                <a:latin typeface="+mj-lt"/>
              </a:rPr>
              <a:t>To implement Atomic Decomposition (inspired by FActScore) to effectively isolate verifiable claims from generated summaries.</a:t>
            </a:r>
          </a:p>
          <a:p>
            <a:pPr marL="228600" lvl="0" indent="-228600">
              <a:spcBef>
                <a:spcPts val="12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1200" dirty="0">
                <a:latin typeface="+mj-lt"/>
              </a:rPr>
              <a:t>To develop a Skeptical Query Generator capable of creating adversarial queries specifically designed to falsify those isolated claims.</a:t>
            </a:r>
          </a:p>
          <a:p>
            <a:pPr marL="228600" lvl="0" indent="-228600">
              <a:spcBef>
                <a:spcPts val="12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1200" dirty="0">
                <a:latin typeface="+mj-lt"/>
              </a:rPr>
              <a:t>To engineer a CoVe Verification Loop for the LLM judge, making it mandatory to provide explicit evidence attribution for every negative verdict it issues.</a:t>
            </a:r>
          </a:p>
          <a:p>
            <a:pPr marL="228600" lvl="0" indent="-228600">
              <a:spcBef>
                <a:spcPts val="12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1200" dirty="0">
                <a:latin typeface="+mj-lt"/>
              </a:rPr>
              <a:t>To execute Targeted RARR Editing, which modifies only the specific tokens proven to be incorrect rather than rewriting the whole text.</a:t>
            </a:r>
          </a:p>
          <a:p>
            <a:pPr marL="228600" lvl="0" indent="-228600">
              <a:spcBef>
                <a:spcPts val="12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1200" dirty="0">
                <a:latin typeface="+mj-lt"/>
              </a:rPr>
              <a:t>To construct "SkepticBench," a dataset consisting of over 2,000 atomic facts derived from hallucinated AI paper summaries.</a:t>
            </a:r>
          </a:p>
          <a:p>
            <a:pPr marL="228600" lvl="0" indent="-228600">
              <a:spcBef>
                <a:spcPts val="1200"/>
              </a:spcBef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1200" dirty="0">
                <a:latin typeface="+mj-lt"/>
              </a:rPr>
              <a:t>To benchmark the proposed architecture using a novel metric called the "Skeptic Score," which measures the ratio of proactive falsifications.</a:t>
            </a:r>
            <a:endParaRPr sz="1200" b="1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235384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715817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GB" sz="3200" dirty="0"/>
              <a:t>Challenges</a:t>
            </a:r>
            <a:endParaRPr sz="3200"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143550" y="1085850"/>
            <a:ext cx="8895000" cy="39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9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solidFill>
                  <a:schemeClr val="tx1"/>
                </a:solidFill>
                <a:latin typeface="+mj-lt"/>
              </a:rPr>
              <a:t>Confirmation Bias in Retrieval:</a:t>
            </a:r>
            <a:r>
              <a:rPr lang="en-US" sz="1200" dirty="0">
                <a:solidFill>
                  <a:schemeClr val="tx1"/>
                </a:solidFill>
                <a:latin typeface="+mj-lt"/>
              </a:rPr>
              <a:t> Search queries often mimic the hallucinated claim itself, retrieving supportive noise instead of the actual ground truth.</a:t>
            </a:r>
          </a:p>
          <a:p>
            <a:pPr marL="514350" lvl="0" indent="-514350">
              <a:lnSpc>
                <a:spcPct val="9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j-lt"/>
              </a:rPr>
              <a:t>Unverified "God View" Judges:</a:t>
            </a:r>
            <a:r>
              <a:rPr lang="en-US" sz="1200" dirty="0">
                <a:latin typeface="+mj-lt"/>
              </a:rPr>
              <a:t> The LLM judge evaluating the claims is trusted blindly, even though it is highly prone to reasoning errors.</a:t>
            </a:r>
          </a:p>
          <a:p>
            <a:pPr marL="514350" lvl="0" indent="-514350">
              <a:lnSpc>
                <a:spcPct val="9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j-lt"/>
              </a:rPr>
              <a:t>Granularity Mismatch:</a:t>
            </a:r>
            <a:r>
              <a:rPr lang="en-US" sz="1200" dirty="0">
                <a:latin typeface="+mj-lt"/>
              </a:rPr>
              <a:t> Traditional verification occurs at the paragraph level, which allows smaller, atomic errors to easily slip through undetected.</a:t>
            </a:r>
          </a:p>
          <a:p>
            <a:pPr marL="514350" lvl="0" indent="-514350">
              <a:lnSpc>
                <a:spcPct val="9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j-lt"/>
              </a:rPr>
              <a:t>Destructive Correction:</a:t>
            </a:r>
            <a:r>
              <a:rPr lang="en-US" sz="1200" dirty="0">
                <a:latin typeface="+mj-lt"/>
              </a:rPr>
              <a:t> Existing systems like RARR tend to rewrite entire sentences rather than surgically fixing the error, leading to a loss of the original nuance.</a:t>
            </a:r>
          </a:p>
          <a:p>
            <a:pPr marL="514350" lvl="0" indent="-514350">
              <a:lnSpc>
                <a:spcPct val="9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j-lt"/>
              </a:rPr>
              <a:t>Lack of Technical Benchmarks:</a:t>
            </a:r>
            <a:r>
              <a:rPr lang="en-US" sz="1200" dirty="0">
                <a:latin typeface="+mj-lt"/>
              </a:rPr>
              <a:t> There is currently no dataset that exists specifically for detecting hallucinations in the rapidly evolving domain of AI research papers.</a:t>
            </a:r>
          </a:p>
          <a:p>
            <a:pPr marL="514350" lvl="0" indent="-514350">
              <a:lnSpc>
                <a:spcPct val="9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j-lt"/>
              </a:rPr>
              <a:t>Failure of Prior Generations:</a:t>
            </a:r>
            <a:r>
              <a:rPr lang="en-US" sz="1200" dirty="0">
                <a:latin typeface="+mj-lt"/>
              </a:rPr>
              <a:t> Early retrieval augmentation fails against a model's strong internal priors; self-correction methods lead to "hallucinated corrections" because they lack external ground truth; and atomic evaluation methods lack a verification loop to check the editor's decisions.</a:t>
            </a:r>
          </a:p>
          <a:p>
            <a:pPr marL="228600" lvl="0" indent="-228600">
              <a:lnSpc>
                <a:spcPct val="9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endParaRPr sz="120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00" dirty="0"/>
              <a:t>Dataset and What is being used</a:t>
            </a:r>
            <a:endParaRPr sz="3200" dirty="0"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143550" y="1085850"/>
            <a:ext cx="8895000" cy="3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n-lt"/>
              </a:rPr>
              <a:t>Dataset Name:</a:t>
            </a:r>
            <a:r>
              <a:rPr lang="en-US" sz="1200" dirty="0">
                <a:latin typeface="+mn-lt"/>
              </a:rPr>
              <a:t> SkepticBench, a purpose-built dataset for detecting technical hallucinations</a:t>
            </a:r>
          </a:p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n-lt"/>
              </a:rPr>
              <a:t>Composition:</a:t>
            </a:r>
            <a:r>
              <a:rPr lang="en-US" sz="1200" dirty="0">
                <a:latin typeface="+mn-lt"/>
              </a:rPr>
              <a:t> Contains 200 summaries of high-impact AI/ML research papers from the years 2023 to 2025.</a:t>
            </a:r>
          </a:p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n-lt"/>
              </a:rPr>
              <a:t>Injection Method:</a:t>
            </a:r>
            <a:r>
              <a:rPr lang="en-US" sz="1200" dirty="0">
                <a:latin typeface="+mn-lt"/>
              </a:rPr>
              <a:t> "Poisoned" atomic facts—such as wrong dates, incorrect metric scores, and false author attributions—were carefully and manually injected into the summaries.</a:t>
            </a:r>
          </a:p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n-lt"/>
              </a:rPr>
              <a:t>Scale:</a:t>
            </a:r>
            <a:r>
              <a:rPr lang="en-US" sz="1200" dirty="0">
                <a:latin typeface="+mn-lt"/>
              </a:rPr>
              <a:t> The dataset comprises over 2,000 verifiable atomic claims.</a:t>
            </a:r>
          </a:p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n-lt"/>
              </a:rPr>
              <a:t>Uniqueness:</a:t>
            </a:r>
            <a:r>
              <a:rPr lang="en-US" sz="1200" dirty="0">
                <a:latin typeface="+mn-lt"/>
              </a:rPr>
              <a:t> Unlike general QA datasets (like </a:t>
            </a:r>
            <a:r>
              <a:rPr lang="en-US" sz="1200" dirty="0" err="1">
                <a:latin typeface="+mn-lt"/>
              </a:rPr>
              <a:t>TruthfulQA</a:t>
            </a:r>
            <a:r>
              <a:rPr lang="en-US" sz="1200" dirty="0">
                <a:latin typeface="+mn-lt"/>
              </a:rPr>
              <a:t> or </a:t>
            </a:r>
            <a:r>
              <a:rPr lang="en-US" sz="1200" dirty="0" err="1">
                <a:latin typeface="+mn-lt"/>
              </a:rPr>
              <a:t>HaluEval</a:t>
            </a:r>
            <a:r>
              <a:rPr lang="en-US" sz="1200" dirty="0">
                <a:latin typeface="+mn-lt"/>
              </a:rPr>
              <a:t>) that only measure if a model produces falsehoods, SkepticBench requires deep technical understanding. It evaluates whether a system can successfully prove a claim is false through evidence-backed falsification.</a:t>
            </a:r>
            <a:endParaRPr sz="1200" dirty="0"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F486-686E-25FB-0783-8E6A90973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Architecture and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C8B4C-9E19-4F06-A5B2-3AA47E08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1445" indent="0">
              <a:buClr>
                <a:schemeClr val="tx1"/>
              </a:buClr>
              <a:buNone/>
            </a:pP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9596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00"/>
              <a:t>Applications and Real-World Use Cases</a:t>
            </a:r>
            <a:endParaRPr sz="2800"/>
          </a:p>
        </p:txBody>
      </p:sp>
      <p:sp>
        <p:nvSpPr>
          <p:cNvPr id="155" name="Google Shape;155;p26"/>
          <p:cNvSpPr txBox="1">
            <a:spLocks noGrp="1"/>
          </p:cNvSpPr>
          <p:nvPr>
            <p:ph type="body" idx="1"/>
          </p:nvPr>
        </p:nvSpPr>
        <p:spPr>
          <a:xfrm>
            <a:off x="132675" y="1085850"/>
            <a:ext cx="8873400" cy="39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n-lt"/>
              </a:rPr>
              <a:t>Automated Literature Reviews:</a:t>
            </a:r>
            <a:r>
              <a:rPr lang="en-US" sz="1200" dirty="0">
                <a:latin typeface="+mn-lt"/>
              </a:rPr>
              <a:t> Rapidly verifies complex AI research papers by isolating atomic facts like dates, metrics, and author attributions against authoritative sources like arXiv.</a:t>
            </a:r>
          </a:p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n-lt"/>
              </a:rPr>
              <a:t>Dataset Quality Control:</a:t>
            </a:r>
            <a:r>
              <a:rPr lang="en-US" sz="1200" dirty="0">
                <a:latin typeface="+mn-lt"/>
              </a:rPr>
              <a:t> Leverages adversarial query generation to audit and clean large-scale datasets before they are used for training models.</a:t>
            </a:r>
          </a:p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n-lt"/>
              </a:rPr>
              <a:t>Robust Production LLM Pipelines:</a:t>
            </a:r>
            <a:r>
              <a:rPr lang="en-US" sz="1200" dirty="0">
                <a:latin typeface="+mn-lt"/>
              </a:rPr>
              <a:t> The "Detect → Prove → Fix → Explain" architecture can be packaged as containerized microservices to enforce strict factuality guardrails in automated deployment environments.</a:t>
            </a:r>
          </a:p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n-lt"/>
              </a:rPr>
              <a:t>Corporate Knowledge Bases:</a:t>
            </a:r>
            <a:r>
              <a:rPr lang="en-US" sz="1200" dirty="0">
                <a:latin typeface="+mn-lt"/>
              </a:rPr>
              <a:t> Prevents enterprise chatbots from hallucinating critical business policies by enforcing evidence-backed falsification rather than relying on supportive noise</a:t>
            </a:r>
          </a:p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n-lt"/>
              </a:rPr>
              <a:t>Non-Destructive Document Correction:</a:t>
            </a:r>
            <a:r>
              <a:rPr lang="en-US" sz="1200" dirty="0">
                <a:latin typeface="+mn-lt"/>
              </a:rPr>
              <a:t> Utilizes the Targeted RARR Editor to surgically rewrite only the specific tokens proven to be incorrect.</a:t>
            </a:r>
          </a:p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b="1" dirty="0">
                <a:latin typeface="+mn-lt"/>
              </a:rPr>
              <a:t>Preserving Critical Nuance:</a:t>
            </a:r>
            <a:r>
              <a:rPr lang="en-US" sz="1200" dirty="0">
                <a:latin typeface="+mn-lt"/>
              </a:rPr>
              <a:t> Essential for legal, medical, and compliance fields where the original phrasing and nuance of the surrounding text must be strictly maintained.</a:t>
            </a:r>
            <a:endParaRPr sz="1200" dirty="0"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>
            <a:spLocks noGrp="1"/>
          </p:cNvSpPr>
          <p:nvPr>
            <p:ph type="title"/>
          </p:nvPr>
        </p:nvSpPr>
        <p:spPr>
          <a:xfrm>
            <a:off x="771235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3200" dirty="0"/>
              <a:t>Conclusion</a:t>
            </a:r>
            <a:endParaRPr sz="3200" dirty="0"/>
          </a:p>
        </p:txBody>
      </p:sp>
      <p:sp>
        <p:nvSpPr>
          <p:cNvPr id="161" name="Google Shape;161;p27"/>
          <p:cNvSpPr txBox="1">
            <a:spLocks noGrp="1"/>
          </p:cNvSpPr>
          <p:nvPr>
            <p:ph type="body" idx="1"/>
          </p:nvPr>
        </p:nvSpPr>
        <p:spPr>
          <a:xfrm>
            <a:off x="176150" y="1085850"/>
            <a:ext cx="8797200" cy="39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dirty="0">
                <a:latin typeface="+mn-lt"/>
              </a:rPr>
              <a:t>The project successfully formalizes factuality not as the mere presence of supporting evidence, but as the absolute absence of successful falsification under skeptical retrieval.</a:t>
            </a:r>
          </a:p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dirty="0">
                <a:latin typeface="+mn-lt"/>
              </a:rPr>
              <a:t>By forcing the judge to explicitly quote evidence sentences that justify a "Contradiction" label, the judge is transformed from an opaque decision-maker into a verifiable fact-checker.</a:t>
            </a:r>
          </a:p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dirty="0">
                <a:latin typeface="+mn-lt"/>
              </a:rPr>
              <a:t>Combining atomic decomposition, adversarial retrieval, and evidence-grounded judgment substantially reduces false positives.</a:t>
            </a:r>
          </a:p>
          <a:p>
            <a:pPr marL="228600" lvl="0" indent="-228600"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200" dirty="0">
                <a:latin typeface="+mn-lt"/>
              </a:rPr>
              <a:t>The architecture improves correction precision significantly when compared to standard RAG and RARR-style pipelines.</a:t>
            </a:r>
            <a:endParaRPr sz="1200" dirty="0"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>
            <a:spLocks noGrp="1"/>
          </p:cNvSpPr>
          <p:nvPr>
            <p:ph type="title"/>
          </p:nvPr>
        </p:nvSpPr>
        <p:spPr>
          <a:xfrm>
            <a:off x="914400" y="20597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3200" dirty="0"/>
              <a:t>REFERENCES</a:t>
            </a:r>
            <a:endParaRPr sz="3200" dirty="0"/>
          </a:p>
        </p:txBody>
      </p:sp>
      <p:sp>
        <p:nvSpPr>
          <p:cNvPr id="167" name="Google Shape;167;p28"/>
          <p:cNvSpPr txBox="1">
            <a:spLocks noGrp="1"/>
          </p:cNvSpPr>
          <p:nvPr>
            <p:ph type="body" idx="1"/>
          </p:nvPr>
        </p:nvSpPr>
        <p:spPr>
          <a:xfrm>
            <a:off x="346363" y="1085850"/>
            <a:ext cx="8525163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88950" lvl="0" indent="-342900">
              <a:buClr>
                <a:schemeClr val="dk1"/>
              </a:buClr>
              <a:buSzPts val="1300"/>
              <a:buFont typeface="+mj-lt"/>
              <a:buAutoNum type="arabicPeriod"/>
            </a:pPr>
            <a:r>
              <a:rPr lang="en-US" sz="1200" dirty="0" err="1">
                <a:latin typeface="+mj-lt"/>
              </a:rPr>
              <a:t>Dhuliawala</a:t>
            </a:r>
            <a:r>
              <a:rPr lang="en-US" sz="1200" dirty="0">
                <a:latin typeface="+mj-lt"/>
              </a:rPr>
              <a:t>, S., et al. (2023). </a:t>
            </a:r>
            <a:r>
              <a:rPr lang="en-US" sz="1200" i="1" dirty="0">
                <a:latin typeface="+mj-lt"/>
              </a:rPr>
              <a:t>Chain-of-Verification Reduces Hallucination in Large Language Models</a:t>
            </a:r>
            <a:r>
              <a:rPr lang="en-US" sz="1200" dirty="0">
                <a:latin typeface="+mj-lt"/>
              </a:rPr>
              <a:t>.</a:t>
            </a:r>
          </a:p>
          <a:p>
            <a:pPr marL="488950" lvl="0" indent="-342900">
              <a:buClr>
                <a:schemeClr val="dk1"/>
              </a:buClr>
              <a:buSzPts val="1300"/>
              <a:buFont typeface="+mj-lt"/>
              <a:buAutoNum type="arabicPeriod"/>
            </a:pPr>
            <a:r>
              <a:rPr lang="en-US" sz="1200" dirty="0">
                <a:latin typeface="+mj-lt"/>
              </a:rPr>
              <a:t>Gao, L., et al. (2023). </a:t>
            </a:r>
            <a:r>
              <a:rPr lang="en-US" sz="1200" i="1" dirty="0">
                <a:latin typeface="+mj-lt"/>
              </a:rPr>
              <a:t>RARR: Researching and Revising What Language Models Say, Using Language Models</a:t>
            </a:r>
          </a:p>
          <a:p>
            <a:pPr marL="488950" lvl="0" indent="-342900">
              <a:buClr>
                <a:schemeClr val="dk1"/>
              </a:buClr>
              <a:buSzPts val="1300"/>
              <a:buFont typeface="+mj-lt"/>
              <a:buAutoNum type="arabicPeriod"/>
            </a:pPr>
            <a:r>
              <a:rPr lang="en-US" sz="1200" dirty="0">
                <a:latin typeface="+mj-lt"/>
              </a:rPr>
              <a:t>Min, S., et al. (2023). </a:t>
            </a:r>
            <a:r>
              <a:rPr lang="en-US" sz="1200" i="1" dirty="0">
                <a:latin typeface="+mj-lt"/>
              </a:rPr>
              <a:t>FActScore: Fine-grained Atomic Evaluation of Factual Precision</a:t>
            </a:r>
          </a:p>
          <a:p>
            <a:pPr marL="488950" lvl="0" indent="-342900">
              <a:buClr>
                <a:schemeClr val="dk1"/>
              </a:buClr>
              <a:buSzPts val="1300"/>
              <a:buFont typeface="+mj-lt"/>
              <a:buAutoNum type="arabicPeriod"/>
            </a:pPr>
            <a:r>
              <a:rPr lang="en-US" sz="1200" dirty="0">
                <a:latin typeface="+mj-lt"/>
              </a:rPr>
              <a:t>Chern, I. C., et al. (2023). </a:t>
            </a:r>
            <a:r>
              <a:rPr lang="en-US" sz="1200" i="1" dirty="0" err="1">
                <a:latin typeface="+mj-lt"/>
              </a:rPr>
              <a:t>FacTool</a:t>
            </a:r>
            <a:r>
              <a:rPr lang="en-US" sz="1200" i="1" dirty="0">
                <a:latin typeface="+mj-lt"/>
              </a:rPr>
              <a:t>: Factuality Detection in Generative AI</a:t>
            </a:r>
            <a:r>
              <a:rPr lang="en-US" sz="1200" dirty="0">
                <a:latin typeface="+mj-lt"/>
              </a:rPr>
              <a:t>.</a:t>
            </a:r>
          </a:p>
          <a:p>
            <a:pPr marL="488950" lvl="0" indent="-342900">
              <a:buClr>
                <a:schemeClr val="dk1"/>
              </a:buClr>
              <a:buSzPts val="1300"/>
              <a:buFont typeface="+mj-lt"/>
              <a:buAutoNum type="arabicPeriod"/>
            </a:pPr>
            <a:r>
              <a:rPr lang="en-US" sz="1200" dirty="0">
                <a:latin typeface="+mj-lt"/>
              </a:rPr>
              <a:t>Huang, J., et al. (2023). </a:t>
            </a:r>
            <a:r>
              <a:rPr lang="en-US" sz="1200" i="1" dirty="0">
                <a:latin typeface="+mj-lt"/>
              </a:rPr>
              <a:t>Deceptive Prompting: Exploiting the </a:t>
            </a:r>
            <a:r>
              <a:rPr lang="en-US" sz="1200" i="1" dirty="0" err="1">
                <a:latin typeface="+mj-lt"/>
              </a:rPr>
              <a:t>Sychophancy</a:t>
            </a:r>
            <a:r>
              <a:rPr lang="en-US" sz="1200" i="1" dirty="0">
                <a:latin typeface="+mj-lt"/>
              </a:rPr>
              <a:t> of Large Language Models</a:t>
            </a:r>
            <a:r>
              <a:rPr lang="en-US" sz="1200" dirty="0">
                <a:latin typeface="+mj-lt"/>
              </a:rPr>
              <a:t>.</a:t>
            </a:r>
          </a:p>
          <a:p>
            <a:pPr marL="488950" lvl="0" indent="-342900">
              <a:buClr>
                <a:schemeClr val="dk1"/>
              </a:buClr>
              <a:buSzPts val="1300"/>
              <a:buFont typeface="+mj-lt"/>
              <a:buAutoNum type="arabicPeriod"/>
            </a:pPr>
            <a:r>
              <a:rPr lang="en-US" sz="1200" dirty="0">
                <a:latin typeface="+mj-lt"/>
              </a:rPr>
              <a:t>Mallen, A., et al. (2023). </a:t>
            </a:r>
            <a:r>
              <a:rPr lang="en-US" sz="1200" i="1" dirty="0">
                <a:latin typeface="+mj-lt"/>
              </a:rPr>
              <a:t>When Not to Trust Language Models: Investigating Effectiveness of Parametric and Non-Parametric Memories</a:t>
            </a:r>
            <a:r>
              <a:rPr lang="en-US" sz="1200" dirty="0">
                <a:latin typeface="+mj-lt"/>
              </a:rPr>
              <a:t>.</a:t>
            </a:r>
            <a:endParaRPr sz="120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</Words>
  <Application>Microsoft Office PowerPoint</Application>
  <PresentationFormat>On-screen Show (16:9)</PresentationFormat>
  <Paragraphs>51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Noto Sans Symbols</vt:lpstr>
      <vt:lpstr>Libre Baskerville</vt:lpstr>
      <vt:lpstr>Libre Franklin</vt:lpstr>
      <vt:lpstr>Arial</vt:lpstr>
      <vt:lpstr>Equity</vt:lpstr>
      <vt:lpstr>MAJOR PROJECT</vt:lpstr>
      <vt:lpstr>Introduction</vt:lpstr>
      <vt:lpstr>Objective</vt:lpstr>
      <vt:lpstr>Challenges</vt:lpstr>
      <vt:lpstr>Dataset and What is being used</vt:lpstr>
      <vt:lpstr>Architecture and workflow</vt:lpstr>
      <vt:lpstr>Applications and Real-World Use Cases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DHRUV AGARWAL</dc:creator>
  <cp:lastModifiedBy>Dhruv Agarwal</cp:lastModifiedBy>
  <cp:revision>1</cp:revision>
  <dcterms:modified xsi:type="dcterms:W3CDTF">2026-02-25T12:56:32Z</dcterms:modified>
</cp:coreProperties>
</file>